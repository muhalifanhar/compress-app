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24384000" cy="13716000"/>
  <p:notesSz cx="13716000" cy="24384000"/>
  <p:embeddedFontLst>
    <p:embeddedFont>
      <p:font typeface="Liter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5066931-4365d14bab8c?w=1920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13" b="7813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9680" y="2286000"/>
            <a:ext cx="1778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PEMROGRAMAN BERORIENTASI OBJEK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4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(OOP)</a:t>
            </a:r>
            <a:pPr>
              <a:lnSpc>
                <a:spcPct val="100000"/>
              </a:lnSpc>
            </a:pPr>
            <a:r>
              <a:rPr lang="en-US" sz="64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DENGAN JAVASCRIPT MODERN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249680" y="6350000"/>
            <a:ext cx="152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Membangun Aplikasi yang Terstruktur, Rapi, dan Mudah Dikelola.</a:t>
            </a:r>
            <a:endParaRPr lang="en-US" sz="3730" dirty="0"/>
          </a:p>
        </p:txBody>
      </p:sp>
      <p:sp>
        <p:nvSpPr>
          <p:cNvPr id="5" name="Shape 2"/>
          <p:cNvSpPr/>
          <p:nvPr/>
        </p:nvSpPr>
        <p:spPr>
          <a:xfrm>
            <a:off x="1249680" y="7874000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3"/>
          <p:cNvSpPr/>
          <p:nvPr/>
        </p:nvSpPr>
        <p:spPr>
          <a:xfrm>
            <a:off x="1249680" y="8382000"/>
            <a:ext cx="177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i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"Hari ini kita tidak hanya menulis kode yang 'jalan', tapi kode yang 'pintar' dan punya struktur."</a:t>
            </a:r>
            <a:endParaRPr lang="en-US" sz="2930" dirty="0"/>
          </a:p>
        </p:txBody>
      </p:sp>
      <p:sp>
        <p:nvSpPr>
          <p:cNvPr id="7" name="Text 4"/>
          <p:cNvSpPr/>
          <p:nvPr/>
        </p:nvSpPr>
        <p:spPr>
          <a:xfrm>
            <a:off x="1249680" y="10795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spc="20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 ES6+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88900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Mengapa Harus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OOP?</a:t>
            </a:r>
            <a:endParaRPr lang="en-US" sz="9870" dirty="0"/>
          </a:p>
        </p:txBody>
      </p:sp>
      <p:sp>
        <p:nvSpPr>
          <p:cNvPr id="3" name="Shape 1"/>
          <p:cNvSpPr/>
          <p:nvPr/>
        </p:nvSpPr>
        <p:spPr>
          <a:xfrm>
            <a:off x="10595102" y="2344801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1596624" y="1774571"/>
            <a:ext cx="1143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REUSABILITY</a:t>
            </a:r>
            <a:endParaRPr lang="en-US" sz="4130" dirty="0"/>
          </a:p>
        </p:txBody>
      </p:sp>
      <p:sp>
        <p:nvSpPr>
          <p:cNvPr id="5" name="Text 3"/>
          <p:cNvSpPr/>
          <p:nvPr/>
        </p:nvSpPr>
        <p:spPr>
          <a:xfrm>
            <a:off x="11596624" y="2667000"/>
            <a:ext cx="11430000" cy="1139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Kode bisa digunakan berulang kali tanpa menulis ulang.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10595102" y="4380611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1596624" y="3810000"/>
            <a:ext cx="1143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4130" dirty="0"/>
          </a:p>
        </p:txBody>
      </p:sp>
      <p:sp>
        <p:nvSpPr>
          <p:cNvPr id="8" name="Text 6"/>
          <p:cNvSpPr/>
          <p:nvPr/>
        </p:nvSpPr>
        <p:spPr>
          <a:xfrm>
            <a:off x="11596624" y="4699000"/>
            <a:ext cx="11430000" cy="1139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Aplikasi besar lebih mudah dikelola.</a:t>
            </a:r>
            <a:endParaRPr lang="en-US" sz="2930" dirty="0"/>
          </a:p>
        </p:txBody>
      </p:sp>
      <p:sp>
        <p:nvSpPr>
          <p:cNvPr id="9" name="Shape 7"/>
          <p:cNvSpPr/>
          <p:nvPr/>
        </p:nvSpPr>
        <p:spPr>
          <a:xfrm>
            <a:off x="10595102" y="6416421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1596624" y="5842000"/>
            <a:ext cx="1143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ORGANIZED</a:t>
            </a:r>
            <a:endParaRPr lang="en-US" sz="4130" dirty="0"/>
          </a:p>
        </p:txBody>
      </p:sp>
      <p:sp>
        <p:nvSpPr>
          <p:cNvPr id="11" name="Text 9"/>
          <p:cNvSpPr/>
          <p:nvPr/>
        </p:nvSpPr>
        <p:spPr>
          <a:xfrm>
            <a:off x="11596624" y="6731000"/>
            <a:ext cx="11430000" cy="1139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dan fungsi dikelompokkan dalam satu wadah (Objek).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1249680" y="8890000"/>
            <a:ext cx="21590000" cy="254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727200" y="9398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48734" y="457200"/>
                </a:moveTo>
                <a:cubicBezTo>
                  <a:pt x="357426" y="430649"/>
                  <a:pt x="374809" y="406598"/>
                  <a:pt x="394454" y="385882"/>
                </a:cubicBezTo>
                <a:cubicBezTo>
                  <a:pt x="433387" y="344924"/>
                  <a:pt x="457200" y="289560"/>
                  <a:pt x="457200" y="228600"/>
                </a:cubicBezTo>
                <a:cubicBezTo>
                  <a:pt x="457200" y="102394"/>
                  <a:pt x="354806" y="0"/>
                  <a:pt x="228600" y="0"/>
                </a:cubicBezTo>
                <a:cubicBezTo>
                  <a:pt x="102394" y="0"/>
                  <a:pt x="0" y="102394"/>
                  <a:pt x="0" y="228600"/>
                </a:cubicBezTo>
                <a:cubicBezTo>
                  <a:pt x="0" y="289560"/>
                  <a:pt x="23813" y="344924"/>
                  <a:pt x="62746" y="385882"/>
                </a:cubicBezTo>
                <a:cubicBezTo>
                  <a:pt x="82391" y="406598"/>
                  <a:pt x="99893" y="430649"/>
                  <a:pt x="108466" y="457200"/>
                </a:cubicBezTo>
                <a:lnTo>
                  <a:pt x="348615" y="457200"/>
                </a:lnTo>
                <a:close/>
                <a:moveTo>
                  <a:pt x="342900" y="514350"/>
                </a:moveTo>
                <a:lnTo>
                  <a:pt x="114300" y="514350"/>
                </a:lnTo>
                <a:lnTo>
                  <a:pt x="114300" y="533400"/>
                </a:lnTo>
                <a:cubicBezTo>
                  <a:pt x="114300" y="586026"/>
                  <a:pt x="156924" y="628650"/>
                  <a:pt x="209550" y="628650"/>
                </a:cubicBezTo>
                <a:lnTo>
                  <a:pt x="247650" y="628650"/>
                </a:lnTo>
                <a:cubicBezTo>
                  <a:pt x="300276" y="628650"/>
                  <a:pt x="342900" y="586026"/>
                  <a:pt x="342900" y="533400"/>
                </a:cubicBezTo>
                <a:lnTo>
                  <a:pt x="342900" y="514350"/>
                </a:lnTo>
                <a:close/>
                <a:moveTo>
                  <a:pt x="219075" y="133350"/>
                </a:moveTo>
                <a:cubicBezTo>
                  <a:pt x="171688" y="133350"/>
                  <a:pt x="133350" y="171688"/>
                  <a:pt x="133350" y="219075"/>
                </a:cubicBezTo>
                <a:cubicBezTo>
                  <a:pt x="133350" y="234910"/>
                  <a:pt x="120610" y="247650"/>
                  <a:pt x="104775" y="247650"/>
                </a:cubicBezTo>
                <a:cubicBezTo>
                  <a:pt x="88940" y="247650"/>
                  <a:pt x="76200" y="234910"/>
                  <a:pt x="76200" y="219075"/>
                </a:cubicBezTo>
                <a:cubicBezTo>
                  <a:pt x="76200" y="140137"/>
                  <a:pt x="140137" y="76200"/>
                  <a:pt x="219075" y="76200"/>
                </a:cubicBezTo>
                <a:cubicBezTo>
                  <a:pt x="234910" y="76200"/>
                  <a:pt x="247650" y="88940"/>
                  <a:pt x="247650" y="104775"/>
                </a:cubicBezTo>
                <a:cubicBezTo>
                  <a:pt x="247650" y="120610"/>
                  <a:pt x="234910" y="133350"/>
                  <a:pt x="219075" y="13335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9271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ANALOGI</a:t>
            </a:r>
            <a:endParaRPr lang="en-US" sz="4130" dirty="0"/>
          </a:p>
        </p:txBody>
      </p:sp>
      <p:sp>
        <p:nvSpPr>
          <p:cNvPr id="15" name="Text 13"/>
          <p:cNvSpPr/>
          <p:nvPr/>
        </p:nvSpPr>
        <p:spPr>
          <a:xfrm>
            <a:off x="2540000" y="10033000"/>
            <a:ext cx="190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"Kalau kita mau buat 100 mobil di game, kita tidak bikin 100 variabel warna secara manual. Kita bikin satu 'cetakan' mobil saja."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397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Komponen Utama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810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 (Atribut)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Variabel di dalam class yang menyimpan data.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9680" y="5969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Fungsi yang pertama kali jalan saat objek dibuat.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49680" y="8128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(Behavior)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Fungsi di dalam class yang mendefinisikan aksi.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335000" y="3810000"/>
            <a:ext cx="10414000" cy="609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0" y="400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Contoh Kode: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0" y="4635500"/>
            <a:ext cx="9652000" cy="501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Siswa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jurusan =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E91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"RPL"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Field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(nama) 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.nama = nama;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Inisialisasi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CDC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belajar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Method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console.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CDC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E91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`${this.nama} sedang belajar coding.`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778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Pendeklarasian &amp;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Instansiasi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175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 langkah utama dalam membuat objek.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249680" y="5080000"/>
            <a:ext cx="10160000" cy="279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533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94000" y="5334000"/>
            <a:ext cx="812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DEKLARASI</a:t>
            </a:r>
            <a:endParaRPr lang="en-US" sz="4130" dirty="0"/>
          </a:p>
        </p:txBody>
      </p:sp>
      <p:sp>
        <p:nvSpPr>
          <p:cNvPr id="7" name="Text 5"/>
          <p:cNvSpPr/>
          <p:nvPr/>
        </p:nvSpPr>
        <p:spPr>
          <a:xfrm>
            <a:off x="2794000" y="6223000"/>
            <a:ext cx="812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Membuat cetakan menggunakan kata kunci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8382000"/>
            <a:ext cx="10160000" cy="279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8636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94000" y="8636000"/>
            <a:ext cx="812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INSTANSIASI</a:t>
            </a:r>
            <a:endParaRPr lang="en-US" sz="4130" dirty="0"/>
          </a:p>
        </p:txBody>
      </p:sp>
      <p:sp>
        <p:nvSpPr>
          <p:cNvPr id="11" name="Text 9"/>
          <p:cNvSpPr/>
          <p:nvPr/>
        </p:nvSpPr>
        <p:spPr>
          <a:xfrm>
            <a:off x="2794000" y="9525000"/>
            <a:ext cx="812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Membuat objek nyata menggunakan kata kunci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13335000" y="5080000"/>
            <a:ext cx="10414000" cy="609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0" y="527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Contoh: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0" y="5969000"/>
            <a:ext cx="9652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Membuat cetakan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Laptop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... isi class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Membuat objek nyata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(Instansiasi)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laptopBudi =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Laptop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();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778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 Kosong vs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 Berisi</a:t>
            </a:r>
            <a:endParaRPr lang="en-US" sz="9870" dirty="0"/>
          </a:p>
        </p:txBody>
      </p:sp>
      <p:sp>
        <p:nvSpPr>
          <p:cNvPr id="3" name="Shape 1"/>
          <p:cNvSpPr/>
          <p:nvPr/>
        </p:nvSpPr>
        <p:spPr>
          <a:xfrm>
            <a:off x="10595102" y="3556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1596624" y="3048000"/>
            <a:ext cx="1143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FIELD</a:t>
            </a:r>
            <a:endParaRPr lang="en-US" sz="4130" dirty="0"/>
          </a:p>
        </p:txBody>
      </p:sp>
      <p:sp>
        <p:nvSpPr>
          <p:cNvPr id="5" name="Text 3"/>
          <p:cNvSpPr/>
          <p:nvPr/>
        </p:nvSpPr>
        <p:spPr>
          <a:xfrm>
            <a:off x="11596624" y="3937000"/>
            <a:ext cx="11430000" cy="1139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Bisa diakses langsung dari luar class.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10595102" y="5588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1596624" y="5080000"/>
            <a:ext cx="1143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FIELD (#)</a:t>
            </a:r>
            <a:endParaRPr lang="en-US" sz="4130" dirty="0"/>
          </a:p>
        </p:txBody>
      </p:sp>
      <p:sp>
        <p:nvSpPr>
          <p:cNvPr id="8" name="Text 6"/>
          <p:cNvSpPr/>
          <p:nvPr/>
        </p:nvSpPr>
        <p:spPr>
          <a:xfrm>
            <a:off x="11596624" y="5969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Rahasia, hanya bisa diakses di dalam class tersebut. Gunakan tanda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 depan nama field.</a:t>
            </a:r>
            <a:endParaRPr lang="en-US" sz="2930" dirty="0"/>
          </a:p>
        </p:txBody>
      </p:sp>
      <p:sp>
        <p:nvSpPr>
          <p:cNvPr id="9" name="Shape 7"/>
          <p:cNvSpPr/>
          <p:nvPr/>
        </p:nvSpPr>
        <p:spPr>
          <a:xfrm>
            <a:off x="10595102" y="8001000"/>
            <a:ext cx="216027" cy="216027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1596624" y="7493000"/>
            <a:ext cx="1143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PENTINGNYA PRIVATE</a:t>
            </a:r>
            <a:endParaRPr lang="en-US" sz="4130" dirty="0"/>
          </a:p>
        </p:txBody>
      </p:sp>
      <p:sp>
        <p:nvSpPr>
          <p:cNvPr id="11" name="Text 9"/>
          <p:cNvSpPr/>
          <p:nvPr/>
        </p:nvSpPr>
        <p:spPr>
          <a:xfrm>
            <a:off x="11596624" y="8382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Mencegah data penting (password, saldo) diubah sembarangan oleh kode lain.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1249680" y="3556000"/>
            <a:ext cx="8636000" cy="673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651000" y="3810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Contoh: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51000" y="4445000"/>
            <a:ext cx="7747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Private field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#saldo =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B5CE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10000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Tidak bisa diintip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dari luar!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CDC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lihatSaldo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.#saldo;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397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Memahami Keyword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'this'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810000"/>
            <a:ext cx="1016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DEFINISI</a:t>
            </a:r>
            <a:endParaRPr lang="en-US" sz="4130" dirty="0"/>
          </a:p>
        </p:txBody>
      </p:sp>
      <p:sp>
        <p:nvSpPr>
          <p:cNvPr id="4" name="Text 2"/>
          <p:cNvSpPr/>
          <p:nvPr/>
        </p:nvSpPr>
        <p:spPr>
          <a:xfrm>
            <a:off x="1249680" y="4699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 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merujuk pada objek yang sedang aktif atau sedang digunakan.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49680" y="6858000"/>
            <a:ext cx="1016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ANALOGI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1249680" y="7747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Seperti kata ganti </a:t>
            </a:r>
            <a:pPr>
              <a:lnSpc>
                <a:spcPct val="100000"/>
              </a:lnSpc>
            </a:pPr>
            <a:r>
              <a:rPr lang="en-US" sz="3200" i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"Saya"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pada manusia. "Saya" merujuk pada orang yang sedang berbicara.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3335000" y="3810000"/>
            <a:ext cx="10414000" cy="6985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0" y="400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Contoh Kode: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0" y="4699000"/>
            <a:ext cx="9652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Siswa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(nama) 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.nama = nama;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DCDC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tampilkanNama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console.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DCDC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C586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.nama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6A99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'this' = objek ini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1430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 </a:t>
            </a:r>
            <a:pPr>
              <a:lnSpc>
                <a:spcPct val="100000"/>
              </a:lnSpc>
            </a:pPr>
            <a:r>
              <a:rPr lang="en-US" sz="64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(Pewarisan)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5080000"/>
            <a:ext cx="889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KONSEP</a:t>
            </a:r>
            <a:endParaRPr lang="en-US" sz="4130" dirty="0"/>
          </a:p>
        </p:txBody>
      </p:sp>
      <p:sp>
        <p:nvSpPr>
          <p:cNvPr id="4" name="Text 2"/>
          <p:cNvSpPr/>
          <p:nvPr/>
        </p:nvSpPr>
        <p:spPr>
          <a:xfrm>
            <a:off x="1249680" y="5969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Sebuah class bisa menurunkan sifatnya ke class lain.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49680" y="8001000"/>
            <a:ext cx="8890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KATA KUNCI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1249680" y="8890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untuk mewariskan</a:t>
            </a:r>
            <a:endParaRPr lang="en-US" sz="32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super()</a:t>
            </a:r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untuk memanggil parent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2065000" y="3810000"/>
            <a:ext cx="5080000" cy="2540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0" y="393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65000" y="4699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Kendaraan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65000" y="5461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(Punya roda)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351000" y="6350000"/>
            <a:ext cx="508000" cy="101600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2065000" y="7366000"/>
            <a:ext cx="5080000" cy="2540000"/>
          </a:xfrm>
          <a:prstGeom prst="rect">
            <a:avLst/>
          </a:prstGeom>
          <a:solidFill>
            <a:srgbClr val="1A1A1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65000" y="749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65000" y="825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65000" y="901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(Punya roda + Bisa wheelie)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0000" y="5080000"/>
            <a:ext cx="5715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 class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mewarisi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semua properti dan method dari Parent class.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 bisa menambahkan sifat 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baru</a:t>
            </a:r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yang spesifik untuk dirinya.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0320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Studi Kasus: </a:t>
            </a:r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 Sekolah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3175000"/>
            <a:ext cx="152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Mari Kita Praktik: Membuat sistem data Guru dan Siswa.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249680" y="5334000"/>
            <a:ext cx="6731000" cy="635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698625" y="5842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333375" y="369094"/>
                </a:moveTo>
                <a:cubicBezTo>
                  <a:pt x="431944" y="369094"/>
                  <a:pt x="511969" y="289069"/>
                  <a:pt x="511969" y="190500"/>
                </a:cubicBezTo>
                <a:cubicBezTo>
                  <a:pt x="511969" y="91931"/>
                  <a:pt x="431944" y="11906"/>
                  <a:pt x="333375" y="11906"/>
                </a:cubicBezTo>
                <a:cubicBezTo>
                  <a:pt x="234806" y="11906"/>
                  <a:pt x="154781" y="91931"/>
                  <a:pt x="154781" y="190500"/>
                </a:cubicBezTo>
                <a:cubicBezTo>
                  <a:pt x="154781" y="289069"/>
                  <a:pt x="234806" y="369094"/>
                  <a:pt x="333375" y="369094"/>
                </a:cubicBezTo>
                <a:close/>
                <a:moveTo>
                  <a:pt x="289173" y="452438"/>
                </a:moveTo>
                <a:cubicBezTo>
                  <a:pt x="142577" y="452438"/>
                  <a:pt x="23812" y="571202"/>
                  <a:pt x="23812" y="717798"/>
                </a:cubicBezTo>
                <a:cubicBezTo>
                  <a:pt x="23812" y="742206"/>
                  <a:pt x="43607" y="762000"/>
                  <a:pt x="68014" y="762000"/>
                </a:cubicBezTo>
                <a:lnTo>
                  <a:pt x="598736" y="762000"/>
                </a:lnTo>
                <a:cubicBezTo>
                  <a:pt x="623143" y="762000"/>
                  <a:pt x="642938" y="742206"/>
                  <a:pt x="642938" y="717798"/>
                </a:cubicBezTo>
                <a:cubicBezTo>
                  <a:pt x="642938" y="571202"/>
                  <a:pt x="524173" y="452438"/>
                  <a:pt x="377577" y="452438"/>
                </a:cubicBezTo>
                <a:lnTo>
                  <a:pt x="289173" y="452438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2667000" y="58420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ORANG</a:t>
            </a:r>
            <a:endParaRPr lang="en-US" sz="4130" dirty="0"/>
          </a:p>
        </p:txBody>
      </p:sp>
      <p:sp>
        <p:nvSpPr>
          <p:cNvPr id="7" name="Text 5"/>
          <p:cNvSpPr/>
          <p:nvPr/>
        </p:nvSpPr>
        <p:spPr>
          <a:xfrm>
            <a:off x="1651000" y="6985000"/>
            <a:ext cx="5969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induk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yang berisi atribut dasar: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nama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umur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alamat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Sebagai 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untuk Guru dan Siswa.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8823960" y="5334000"/>
            <a:ext cx="6731000" cy="635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9124950" y="58420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190500" y="142875"/>
                </a:moveTo>
                <a:cubicBezTo>
                  <a:pt x="190500" y="90339"/>
                  <a:pt x="233214" y="47625"/>
                  <a:pt x="285750" y="47625"/>
                </a:cubicBezTo>
                <a:lnTo>
                  <a:pt x="809625" y="47625"/>
                </a:lnTo>
                <a:cubicBezTo>
                  <a:pt x="862161" y="47625"/>
                  <a:pt x="904875" y="90339"/>
                  <a:pt x="904875" y="142875"/>
                </a:cubicBezTo>
                <a:lnTo>
                  <a:pt x="904875" y="500063"/>
                </a:lnTo>
                <a:lnTo>
                  <a:pt x="762000" y="500063"/>
                </a:lnTo>
                <a:lnTo>
                  <a:pt x="762000" y="476250"/>
                </a:lnTo>
                <a:cubicBezTo>
                  <a:pt x="762000" y="449907"/>
                  <a:pt x="740718" y="428625"/>
                  <a:pt x="714375" y="428625"/>
                </a:cubicBezTo>
                <a:lnTo>
                  <a:pt x="619125" y="428625"/>
                </a:lnTo>
                <a:cubicBezTo>
                  <a:pt x="592782" y="428625"/>
                  <a:pt x="571500" y="449907"/>
                  <a:pt x="571500" y="476250"/>
                </a:cubicBezTo>
                <a:lnTo>
                  <a:pt x="571500" y="500063"/>
                </a:lnTo>
                <a:lnTo>
                  <a:pt x="379363" y="500063"/>
                </a:lnTo>
                <a:cubicBezTo>
                  <a:pt x="395585" y="472083"/>
                  <a:pt x="404813" y="439489"/>
                  <a:pt x="404813" y="404813"/>
                </a:cubicBezTo>
                <a:cubicBezTo>
                  <a:pt x="404813" y="299591"/>
                  <a:pt x="319534" y="214313"/>
                  <a:pt x="214313" y="214313"/>
                </a:cubicBezTo>
                <a:cubicBezTo>
                  <a:pt x="206276" y="214313"/>
                  <a:pt x="198239" y="214759"/>
                  <a:pt x="190500" y="215801"/>
                </a:cubicBezTo>
                <a:lnTo>
                  <a:pt x="190500" y="142875"/>
                </a:lnTo>
                <a:close/>
                <a:moveTo>
                  <a:pt x="495598" y="666750"/>
                </a:moveTo>
                <a:cubicBezTo>
                  <a:pt x="488007" y="630734"/>
                  <a:pt x="471339" y="598140"/>
                  <a:pt x="447824" y="571500"/>
                </a:cubicBezTo>
                <a:lnTo>
                  <a:pt x="904875" y="571500"/>
                </a:lnTo>
                <a:cubicBezTo>
                  <a:pt x="904875" y="624036"/>
                  <a:pt x="862161" y="666750"/>
                  <a:pt x="809625" y="666750"/>
                </a:cubicBezTo>
                <a:lnTo>
                  <a:pt x="495598" y="666750"/>
                </a:lnTo>
                <a:close/>
                <a:moveTo>
                  <a:pt x="95250" y="404813"/>
                </a:moveTo>
                <a:cubicBezTo>
                  <a:pt x="95250" y="339100"/>
                  <a:pt x="148600" y="285750"/>
                  <a:pt x="214312" y="285750"/>
                </a:cubicBezTo>
                <a:cubicBezTo>
                  <a:pt x="280025" y="285750"/>
                  <a:pt x="333375" y="339100"/>
                  <a:pt x="333375" y="404813"/>
                </a:cubicBezTo>
                <a:cubicBezTo>
                  <a:pt x="333375" y="470525"/>
                  <a:pt x="280025" y="523875"/>
                  <a:pt x="214313" y="523875"/>
                </a:cubicBezTo>
                <a:cubicBezTo>
                  <a:pt x="148600" y="523875"/>
                  <a:pt x="95250" y="470525"/>
                  <a:pt x="95250" y="404813"/>
                </a:cubicBezTo>
                <a:close/>
                <a:moveTo>
                  <a:pt x="0" y="714375"/>
                </a:moveTo>
                <a:cubicBezTo>
                  <a:pt x="0" y="635496"/>
                  <a:pt x="63996" y="571500"/>
                  <a:pt x="142875" y="571500"/>
                </a:cubicBezTo>
                <a:lnTo>
                  <a:pt x="285750" y="571500"/>
                </a:lnTo>
                <a:cubicBezTo>
                  <a:pt x="364629" y="571500"/>
                  <a:pt x="428625" y="635496"/>
                  <a:pt x="428625" y="714375"/>
                </a:cubicBezTo>
                <a:cubicBezTo>
                  <a:pt x="428625" y="740718"/>
                  <a:pt x="407343" y="762000"/>
                  <a:pt x="381000" y="762000"/>
                </a:cubicBezTo>
                <a:lnTo>
                  <a:pt x="47625" y="762000"/>
                </a:lnTo>
                <a:cubicBezTo>
                  <a:pt x="21282" y="762000"/>
                  <a:pt x="0" y="740718"/>
                  <a:pt x="0" y="714375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0236200" y="58420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GURU</a:t>
            </a:r>
            <a:endParaRPr lang="en-US" sz="4130" dirty="0"/>
          </a:p>
        </p:txBody>
      </p:sp>
      <p:sp>
        <p:nvSpPr>
          <p:cNvPr id="11" name="Text 9"/>
          <p:cNvSpPr/>
          <p:nvPr/>
        </p:nvSpPr>
        <p:spPr>
          <a:xfrm>
            <a:off x="9220200" y="6985000"/>
            <a:ext cx="5969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Mewarisi dari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Orang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atribut khusus: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NIP (Nomor Induk Pegawai)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mataPelajaran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Tantangan: Buat class ini dengan 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 Orang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16398240" y="5334000"/>
            <a:ext cx="6731000" cy="635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6754475" y="5842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71438" y="291405"/>
                </a:moveTo>
                <a:lnTo>
                  <a:pt x="382786" y="419546"/>
                </a:lnTo>
                <a:cubicBezTo>
                  <a:pt x="397371" y="425500"/>
                  <a:pt x="412849" y="428625"/>
                  <a:pt x="428625" y="428625"/>
                </a:cubicBezTo>
                <a:cubicBezTo>
                  <a:pt x="444401" y="428625"/>
                  <a:pt x="459879" y="425500"/>
                  <a:pt x="474464" y="419546"/>
                </a:cubicBezTo>
                <a:lnTo>
                  <a:pt x="835223" y="271016"/>
                </a:lnTo>
                <a:cubicBezTo>
                  <a:pt x="848618" y="265509"/>
                  <a:pt x="857250" y="252561"/>
                  <a:pt x="857250" y="238125"/>
                </a:cubicBezTo>
                <a:cubicBezTo>
                  <a:pt x="857250" y="223689"/>
                  <a:pt x="848618" y="210741"/>
                  <a:pt x="835223" y="205234"/>
                </a:cubicBezTo>
                <a:lnTo>
                  <a:pt x="474464" y="56704"/>
                </a:lnTo>
                <a:cubicBezTo>
                  <a:pt x="459879" y="50750"/>
                  <a:pt x="444401" y="47625"/>
                  <a:pt x="428625" y="47625"/>
                </a:cubicBezTo>
                <a:cubicBezTo>
                  <a:pt x="412849" y="47625"/>
                  <a:pt x="397371" y="50750"/>
                  <a:pt x="382786" y="56704"/>
                </a:cubicBezTo>
                <a:lnTo>
                  <a:pt x="22027" y="205234"/>
                </a:lnTo>
                <a:cubicBezTo>
                  <a:pt x="8632" y="210741"/>
                  <a:pt x="0" y="223689"/>
                  <a:pt x="0" y="238125"/>
                </a:cubicBezTo>
                <a:lnTo>
                  <a:pt x="0" y="678656"/>
                </a:lnTo>
                <a:cubicBezTo>
                  <a:pt x="0" y="698450"/>
                  <a:pt x="15925" y="714375"/>
                  <a:pt x="35719" y="714375"/>
                </a:cubicBezTo>
                <a:cubicBezTo>
                  <a:pt x="55513" y="714375"/>
                  <a:pt x="71438" y="698450"/>
                  <a:pt x="71438" y="678656"/>
                </a:cubicBezTo>
                <a:lnTo>
                  <a:pt x="71438" y="291405"/>
                </a:lnTo>
                <a:close/>
                <a:moveTo>
                  <a:pt x="142875" y="398115"/>
                </a:moveTo>
                <a:lnTo>
                  <a:pt x="142875" y="571500"/>
                </a:lnTo>
                <a:cubicBezTo>
                  <a:pt x="142875" y="650379"/>
                  <a:pt x="270867" y="714375"/>
                  <a:pt x="428625" y="714375"/>
                </a:cubicBezTo>
                <a:cubicBezTo>
                  <a:pt x="586383" y="714375"/>
                  <a:pt x="714375" y="650379"/>
                  <a:pt x="714375" y="571500"/>
                </a:cubicBezTo>
                <a:lnTo>
                  <a:pt x="714375" y="397966"/>
                </a:lnTo>
                <a:lnTo>
                  <a:pt x="501700" y="485626"/>
                </a:lnTo>
                <a:cubicBezTo>
                  <a:pt x="478482" y="495151"/>
                  <a:pt x="453777" y="500062"/>
                  <a:pt x="428625" y="500062"/>
                </a:cubicBezTo>
                <a:cubicBezTo>
                  <a:pt x="403473" y="500062"/>
                  <a:pt x="378768" y="495151"/>
                  <a:pt x="355550" y="485626"/>
                </a:cubicBezTo>
                <a:lnTo>
                  <a:pt x="142875" y="397966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7818100" y="58420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SISWA</a:t>
            </a:r>
            <a:endParaRPr lang="en-US" sz="4130" dirty="0"/>
          </a:p>
        </p:txBody>
      </p:sp>
      <p:sp>
        <p:nvSpPr>
          <p:cNvPr id="15" name="Text 13"/>
          <p:cNvSpPr/>
          <p:nvPr/>
        </p:nvSpPr>
        <p:spPr>
          <a:xfrm>
            <a:off x="16802100" y="6985000"/>
            <a:ext cx="5969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Mewarisi dari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Orang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atribut khusus: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NISN (Nomor Induk Siswa)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kelas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Tantangan: Buat class ini dengan 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 Orang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203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Tips Belajar OOP untuk </a:t>
            </a:r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Siswa RPL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726547" y="2794000"/>
            <a:ext cx="753872" cy="753872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0726547" y="2794000"/>
            <a:ext cx="753872" cy="753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70080" y="2667000"/>
            <a:ext cx="1106424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GUNAKAN PASCALCASE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12070080" y="3556000"/>
            <a:ext cx="11064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Nama Class harus diawali huruf kapital. Contoh: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MobilBalap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bukan mobilbalap.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0726547" y="5588000"/>
            <a:ext cx="753872" cy="753872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0726547" y="5588000"/>
            <a:ext cx="753872" cy="753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0" y="5461000"/>
            <a:ext cx="1106424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SATU CLASS SATU FILE</a:t>
            </a:r>
            <a:endParaRPr lang="en-US" sz="4130" dirty="0"/>
          </a:p>
        </p:txBody>
      </p:sp>
      <p:sp>
        <p:nvSpPr>
          <p:cNvPr id="10" name="Text 8"/>
          <p:cNvSpPr/>
          <p:nvPr/>
        </p:nvSpPr>
        <p:spPr>
          <a:xfrm>
            <a:off x="12070080" y="6350000"/>
            <a:ext cx="11064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Biar rapi, pisahkan setiap class ke file berbeda jika aplikasinya sudah besar.</a:t>
            </a:r>
            <a:endParaRPr lang="en-US" sz="2930" dirty="0"/>
          </a:p>
        </p:txBody>
      </p:sp>
      <p:sp>
        <p:nvSpPr>
          <p:cNvPr id="11" name="Shape 9"/>
          <p:cNvSpPr/>
          <p:nvPr/>
        </p:nvSpPr>
        <p:spPr>
          <a:xfrm>
            <a:off x="10726547" y="8382000"/>
            <a:ext cx="753872" cy="753872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0726547" y="8382000"/>
            <a:ext cx="753872" cy="753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0" y="8255000"/>
            <a:ext cx="1106424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BAYANGKAN OBJEKNYA</a:t>
            </a:r>
            <a:endParaRPr lang="en-US" sz="4130" dirty="0"/>
          </a:p>
        </p:txBody>
      </p:sp>
      <p:sp>
        <p:nvSpPr>
          <p:cNvPr id="14" name="Text 12"/>
          <p:cNvSpPr/>
          <p:nvPr/>
        </p:nvSpPr>
        <p:spPr>
          <a:xfrm>
            <a:off x="12070080" y="9144000"/>
            <a:ext cx="11064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Sebelum koding, gambar dulu di kertas: "Apa atributnya? Apa aksinya?".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5066931-4365d14bab8c?w=1200">    </p:cNvPr>
          <p:cNvPicPr>
            <a:picLocks noChangeAspect="1"/>
          </p:cNvPicPr>
          <p:nvPr/>
        </p:nvPicPr>
        <p:blipFill>
          <a:blip r:embed="rId1"/>
          <a:srcRect l="22840" r="22840" t="0" b="0"/>
          <a:stretch/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1176000" cy="13716000"/>
          </a:xfrm>
          <a:prstGeom prst="rect">
            <a:avLst/>
          </a:prstGeom>
          <a:gradFill rotWithShape="1" flip="none">
            <a:gsLst>
              <a:gs pos="0">
                <a:srgbClr val="292929">
                  <a:alpha val="0"/>
                </a:srgbClr>
              </a:gs>
              <a:gs pos="70000">
                <a:srgbClr val="292929">
                  <a:alpha val="0"/>
                </a:srgbClr>
              </a:gs>
              <a:gs pos="100000">
                <a:srgbClr val="292929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3491845" y="3556000"/>
            <a:ext cx="9525000" cy="163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Penutup &amp; </a:t>
            </a:r>
            <a:pPr>
              <a:lnSpc>
                <a:spcPct val="10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Tugas</a:t>
            </a:r>
            <a:endParaRPr lang="en-US" sz="9870" dirty="0"/>
          </a:p>
        </p:txBody>
      </p:sp>
      <p:sp>
        <p:nvSpPr>
          <p:cNvPr id="5" name="Text 2"/>
          <p:cNvSpPr/>
          <p:nvPr/>
        </p:nvSpPr>
        <p:spPr>
          <a:xfrm>
            <a:off x="13491845" y="5715000"/>
            <a:ext cx="9525000" cy="807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3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TUGAS MANDIRI</a:t>
            </a:r>
            <a:endParaRPr lang="en-US" sz="4130" dirty="0"/>
          </a:p>
        </p:txBody>
      </p:sp>
      <p:sp>
        <p:nvSpPr>
          <p:cNvPr id="6" name="Text 3"/>
          <p:cNvSpPr/>
          <p:nvPr/>
        </p:nvSpPr>
        <p:spPr>
          <a:xfrm>
            <a:off x="13491845" y="6731000"/>
            <a:ext cx="952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"Buatlah satu Class bernama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Hero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untuk sebuah game. Berikan atribut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darah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dan method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serang()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Lalu buat 2 objek hero dari class tersebut!"</a:t>
            </a:r>
            <a:endParaRPr lang="en-US" sz="2930" dirty="0"/>
          </a:p>
        </p:txBody>
      </p:sp>
      <p:sp>
        <p:nvSpPr>
          <p:cNvPr id="7" name="Shape 4"/>
          <p:cNvSpPr/>
          <p:nvPr/>
        </p:nvSpPr>
        <p:spPr>
          <a:xfrm>
            <a:off x="13491845" y="9652000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8" name="Text 5"/>
          <p:cNvSpPr/>
          <p:nvPr/>
        </p:nvSpPr>
        <p:spPr>
          <a:xfrm>
            <a:off x="13491845" y="10160000"/>
            <a:ext cx="952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i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"Programmer hebat bukan yang hafal sintaks, tapi yang paham struktur."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Berorientasi Objek (OOP) dengan JavaScript Modern</dc:title>
  <dc:subject>Pemrograman Berorientasi Objek (OOP) dengan JavaScript Modern</dc:subject>
  <dc:creator>Kimi</dc:creator>
  <cp:lastModifiedBy>Kimi</cp:lastModifiedBy>
  <cp:revision>1</cp:revision>
  <dcterms:created xsi:type="dcterms:W3CDTF">2026-05-03T21:28:13Z</dcterms:created>
  <dcterms:modified xsi:type="dcterms:W3CDTF">2026-05-03T21:28:13Z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{"Label":"Pemrograman Berorientasi Objek (OOP) dengan JavaScript Modern","ContentProducer":"001191110108MACG2KBH8F10000","ProduceID":"19defa0a-e6d2-86aa-8000-0000f9ec023f","ReservedCode1":"","ContentPropagator":"001191110108MACG2KBH8F20000","PropagateID":"19defa0a-e6d2-86aa-8000-0000f9ec023f","ReservedCode2":""}</vt:lpwstr>
  </property>
</Properties>
</file>